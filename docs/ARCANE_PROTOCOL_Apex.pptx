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ane-protocol.vercel.app" TargetMode="External"/><Relationship Id="rId3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ane-protocol.vercel.app" TargetMode="External"/><Relationship Id="rId3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hyperlink" Target="https://arcane-protocol.vercel.app" TargetMode="External"/><Relationship Id="rId6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arcane-protocol.vercel.app" TargetMode="External"/><Relationship Id="rId5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ane-protocol.vercel.app" TargetMode="External"/><Relationship Id="rId3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ane-protocol.vercel.app" TargetMode="External"/><Relationship Id="rId3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ane-protocol.vercel.app" TargetMode="External"/><Relationship Id="rId4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arcane-protocol.vercel.app" TargetMode="External"/><Relationship Id="rId5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ane-protocol.vercel.app" TargetMode="External"/><Relationship Id="rId3" Type="http://schemas.openxmlformats.org/officeDocument/2006/relationships/hyperlink" Target="https://github.com/ka19550218-debug/arcane-protocol" TargetMode="Externa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cane-protocol.vercel.app" TargetMode="External"/><Relationship Id="rId2" Type="http://schemas.openxmlformats.org/officeDocument/2006/relationships/hyperlink" Target="https://github.com/ka19550218-debug/arcane-protocol" TargetMode="External"/><Relationship Id="rId3" Type="http://schemas.openxmlformats.org/officeDocument/2006/relationships/hyperlink" Target="https://arcane-protocol.vercel.app" TargetMode="External"/><Relationship Id="rId4" Type="http://schemas.openxmlformats.org/officeDocument/2006/relationships/hyperlink" Target="https://github.com/ka19550218-debug/arcane-protoco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ARCANE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PROTOCOL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3E8F2"/>
                </a:solidFill>
              </a:rPr>
              <a:t>Gesture-controlled cyberpunk browser game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8529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5EA"/>
                </a:solidFill>
              </a:rPr>
              <a:t>The webcam becomes the controller — no keyboard or mouse needed for gameplay.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1A23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968496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E8F2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" y="427939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AAB4"/>
                </a:solidFill>
              </a:rPr>
              <a:t>PLAYABLE HEROES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938528" y="388620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1A23"/>
          </a:solidFill>
          <a:ln w="13335">
            <a:solidFill>
              <a:srgbClr val="78F2C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3968496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8F2C2"/>
                </a:solidFill>
              </a:rPr>
              <a:t>6+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11680" y="427939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AAB4"/>
                </a:solidFill>
              </a:rPr>
              <a:t>GESTURES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282696" y="3886200"/>
            <a:ext cx="1234440" cy="658368"/>
          </a:xfrm>
          <a:prstGeom prst="roundRect">
            <a:avLst>
              <a:gd name="adj" fmla="val 6944"/>
            </a:avLst>
          </a:prstGeom>
          <a:solidFill>
            <a:srgbClr val="071A23"/>
          </a:solidFill>
          <a:ln w="13335">
            <a:solidFill>
              <a:srgbClr val="B79AF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3968496"/>
            <a:ext cx="10149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79A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4279392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AAB4"/>
                </a:solidFill>
              </a:rPr>
              <a:t>BOSS FIGHTS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59436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8FA"/>
                </a:solidFill>
              </a:rPr>
              <a:t>Team Apex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5212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AB4"/>
                </a:solidFill>
              </a:rPr>
              <a:t>Syrymbet  •  Mansur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51476" y="928116"/>
            <a:ext cx="6665976" cy="4590288"/>
          </a:xfrm>
          <a:prstGeom prst="roundRect">
            <a:avLst>
              <a:gd name="adj" fmla="val 996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2" name="Image 0" descr="/mnt/data/ppt_assets/crops/main_clean.png">    </p:cNvPr>
          <p:cNvPicPr>
            <a:picLocks noChangeAspect="1"/>
          </p:cNvPicPr>
          <p:nvPr/>
        </p:nvPicPr>
        <p:blipFill>
          <a:blip r:embed="rId1"/>
          <a:srcRect l="0" r="17416" t="0" b="0"/>
          <a:stretch/>
        </p:blipFill>
        <p:spPr>
          <a:xfrm>
            <a:off x="4983480" y="960120"/>
            <a:ext cx="6601968" cy="45262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983480" y="5184648"/>
            <a:ext cx="6601968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84064" y="526694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Live main menu — POINT + dwell navigation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94360" y="5715000"/>
            <a:ext cx="3794760" cy="502920"/>
          </a:xfrm>
          <a:prstGeom prst="roundRect">
            <a:avLst>
              <a:gd name="adj" fmla="val 9091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088" y="58064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FAAB4"/>
                </a:solidFill>
              </a:rPr>
              <a:t>LIVE</a:t>
            </a:r>
            <a:endParaRPr lang="en-US" sz="770" dirty="0"/>
          </a:p>
        </p:txBody>
      </p:sp>
      <p:sp>
        <p:nvSpPr>
          <p:cNvPr id="27" name="Text 24">
            <a:hlinkClick r:id="rId2" tooltip=""/>
          </p:cNvPr>
          <p:cNvSpPr/>
          <p:nvPr/>
        </p:nvSpPr>
        <p:spPr>
          <a:xfrm>
            <a:off x="1417320" y="57972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4617720" y="5715000"/>
            <a:ext cx="6967728" cy="502920"/>
          </a:xfrm>
          <a:prstGeom prst="roundRect">
            <a:avLst>
              <a:gd name="adj" fmla="val 9091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27448" y="58064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FAAB4"/>
                </a:solidFill>
              </a:rPr>
              <a:t>GITHUB</a:t>
            </a:r>
            <a:endParaRPr lang="en-US" sz="770" dirty="0"/>
          </a:p>
        </p:txBody>
      </p:sp>
      <p:sp>
        <p:nvSpPr>
          <p:cNvPr id="30" name="Text 27">
            <a:hlinkClick r:id="rId3" tooltip=""/>
          </p:cNvPr>
          <p:cNvSpPr/>
          <p:nvPr/>
        </p:nvSpPr>
        <p:spPr>
          <a:xfrm>
            <a:off x="5440680" y="5797296"/>
            <a:ext cx="6007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— THE CHALLENGE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Motion case: turn real body movement into a complete browser experience.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481328"/>
            <a:ext cx="3657600" cy="3429000"/>
          </a:xfrm>
          <a:prstGeom prst="roundRect">
            <a:avLst>
              <a:gd name="adj" fmla="val 1333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190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CASE REQUIREMENTS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1214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7E5EA"/>
                </a:solidFill>
              </a:rPr>
              <a:t>Real-time movement recognition from a normal webcam.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157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7E5EA"/>
                </a:solidFill>
              </a:rPr>
              <a:t>At least 3 gestures, each mapped to a different action.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10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7E5EA"/>
                </a:solidFill>
              </a:rPr>
              <a:t>Clear feedback showing what the system recognized.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044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7E5EA"/>
                </a:solidFill>
              </a:rPr>
              <a:t>A complete scenario from movement to visible result.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77240" y="4590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3F8FA"/>
                </a:solidFill>
              </a:rPr>
              <a:t>Our answer: a complete game, not a gesture demo.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94276" y="1385316"/>
            <a:ext cx="7178040" cy="4224528"/>
          </a:xfrm>
          <a:prstGeom prst="roundRect">
            <a:avLst>
              <a:gd name="adj" fmla="val 1082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1" name="Image 0" descr="/mnt/data/ppt_assets/crops/main_clean.png">    </p:cNvPr>
          <p:cNvPicPr>
            <a:picLocks noChangeAspect="1"/>
          </p:cNvPicPr>
          <p:nvPr/>
        </p:nvPicPr>
        <p:blipFill>
          <a:blip r:embed="rId1"/>
          <a:srcRect l="0" r="3187" t="0" b="0"/>
          <a:stretch/>
        </p:blipFill>
        <p:spPr>
          <a:xfrm>
            <a:off x="4526280" y="1417320"/>
            <a:ext cx="7114032" cy="4160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26280" y="5276088"/>
            <a:ext cx="7114032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6864" y="5358384"/>
            <a:ext cx="6912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Story Mode • Boss Rush • Training • Leaderboard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85800" y="5669280"/>
            <a:ext cx="2423160" cy="530352"/>
          </a:xfrm>
          <a:prstGeom prst="roundRect">
            <a:avLst>
              <a:gd name="adj" fmla="val 8621"/>
            </a:avLst>
          </a:prstGeom>
          <a:solidFill>
            <a:srgbClr val="071A23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58247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88720" y="5769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MOVE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502152" y="5669280"/>
            <a:ext cx="2423160" cy="530352"/>
          </a:xfrm>
          <a:prstGeom prst="roundRect">
            <a:avLst>
              <a:gd name="adj" fmla="val 8621"/>
            </a:avLst>
          </a:prstGeom>
          <a:solidFill>
            <a:srgbClr val="071A23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39312" y="58247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05072" y="5769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RECOGNIZE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18504" y="5669280"/>
            <a:ext cx="2423160" cy="530352"/>
          </a:xfrm>
          <a:prstGeom prst="roundRect">
            <a:avLst>
              <a:gd name="adj" fmla="val 8621"/>
            </a:avLst>
          </a:prstGeom>
          <a:solidFill>
            <a:srgbClr val="071A23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55664" y="58247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821424" y="5769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REACT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134856" y="5669280"/>
            <a:ext cx="2423160" cy="530352"/>
          </a:xfrm>
          <a:prstGeom prst="roundRect">
            <a:avLst>
              <a:gd name="adj" fmla="val 8621"/>
            </a:avLst>
          </a:prstGeom>
          <a:solidFill>
            <a:srgbClr val="071A23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72016" y="582472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637776" y="5769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RESULT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8" name="Text 35">
            <a:hlinkClick r:id="rId2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9" name="Text 36">
            <a:hlinkClick r:id="rId3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— GESTURE CONTROL SYSTEM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MediaPipe landmarks + our own gesture rules, quality scoring, stabilization, dwell and combat mapping.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" y="1412748"/>
            <a:ext cx="2514600" cy="3310128"/>
          </a:xfrm>
          <a:prstGeom prst="roundRect">
            <a:avLst>
              <a:gd name="adj" fmla="val 1818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10" name="Image 0" descr="/mnt/data/ppt_assets/openpalm.png">    </p:cNvPr>
          <p:cNvPicPr>
            <a:picLocks noChangeAspect="1"/>
          </p:cNvPicPr>
          <p:nvPr/>
        </p:nvPicPr>
        <p:blipFill>
          <a:blip r:embed="rId1"/>
          <a:srcRect l="0" r="-13328" t="4000" b="8000"/>
          <a:stretch/>
        </p:blipFill>
        <p:spPr>
          <a:xfrm>
            <a:off x="502920" y="1444752"/>
            <a:ext cx="2450592" cy="3246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4389120"/>
            <a:ext cx="2450592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4471416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OPEN PALM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594360" y="4800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Defense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78708" y="1412748"/>
            <a:ext cx="2514600" cy="3310128"/>
          </a:xfrm>
          <a:prstGeom prst="roundRect">
            <a:avLst>
              <a:gd name="adj" fmla="val 1818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15" name="Image 1" descr="/mnt/data/ppt_assets/fist.png">    </p:cNvPr>
          <p:cNvPicPr>
            <a:picLocks noChangeAspect="1"/>
          </p:cNvPicPr>
          <p:nvPr/>
        </p:nvPicPr>
        <p:blipFill>
          <a:blip r:embed="rId2"/>
          <a:srcRect l="0" r="-26853" t="4000" b="8000"/>
          <a:stretch/>
        </p:blipFill>
        <p:spPr>
          <a:xfrm>
            <a:off x="3410712" y="1444752"/>
            <a:ext cx="2450592" cy="3246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410712" y="4389120"/>
            <a:ext cx="2450592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11296" y="4471416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FIST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3502152" y="4800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Basic attack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286500" y="1412748"/>
            <a:ext cx="2514600" cy="3310128"/>
          </a:xfrm>
          <a:prstGeom prst="roundRect">
            <a:avLst>
              <a:gd name="adj" fmla="val 1818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0" name="Image 2" descr="/mnt/data/ppt_assets/vsign.png">    </p:cNvPr>
          <p:cNvPicPr>
            <a:picLocks noChangeAspect="1"/>
          </p:cNvPicPr>
          <p:nvPr/>
        </p:nvPicPr>
        <p:blipFill>
          <a:blip r:embed="rId3"/>
          <a:srcRect l="0" r="-22144" t="4000" b="8000"/>
          <a:stretch/>
        </p:blipFill>
        <p:spPr>
          <a:xfrm>
            <a:off x="6318504" y="1444752"/>
            <a:ext cx="2450592" cy="32461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18504" y="4389120"/>
            <a:ext cx="2450592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19088" y="4471416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V SIGN</a:t>
            </a:r>
            <a:endParaRPr lang="en-US" sz="780" dirty="0"/>
          </a:p>
        </p:txBody>
      </p:sp>
      <p:sp>
        <p:nvSpPr>
          <p:cNvPr id="23" name="Text 18"/>
          <p:cNvSpPr/>
          <p:nvPr/>
        </p:nvSpPr>
        <p:spPr>
          <a:xfrm>
            <a:off x="6409944" y="4800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Super attack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194292" y="1412748"/>
            <a:ext cx="2514600" cy="3310128"/>
          </a:xfrm>
          <a:prstGeom prst="roundRect">
            <a:avLst>
              <a:gd name="adj" fmla="val 1818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5" name="Image 3" descr="/mnt/data/ppt_assets/point.png">    </p:cNvPr>
          <p:cNvPicPr>
            <a:picLocks noChangeAspect="1"/>
          </p:cNvPicPr>
          <p:nvPr/>
        </p:nvPicPr>
        <p:blipFill>
          <a:blip r:embed="rId4"/>
          <a:srcRect l="0" r="-20201" t="4000" b="8000"/>
          <a:stretch/>
        </p:blipFill>
        <p:spPr>
          <a:xfrm>
            <a:off x="9226296" y="1444752"/>
            <a:ext cx="2450592" cy="32461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226296" y="4389120"/>
            <a:ext cx="2450592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326880" y="4471416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POINT</a:t>
            </a:r>
            <a:endParaRPr lang="en-US" sz="780" dirty="0"/>
          </a:p>
        </p:txBody>
      </p:sp>
      <p:sp>
        <p:nvSpPr>
          <p:cNvPr id="28" name="Text 22"/>
          <p:cNvSpPr/>
          <p:nvPr/>
        </p:nvSpPr>
        <p:spPr>
          <a:xfrm>
            <a:off x="9317736" y="48006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Cursor + dwell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85800" y="534924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68680" y="5550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E8F2"/>
                </a:solidFill>
              </a:rPr>
              <a:t>21 landmarks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2148840" y="555040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E5EA"/>
                </a:solidFill>
              </a:rPr>
              <a:t>→ finger states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3474720" y="55504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E5EA"/>
                </a:solidFill>
              </a:rPr>
              <a:t>→ gesture classifier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212080" y="55504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E5EA"/>
                </a:solidFill>
              </a:rPr>
              <a:t>→ temporal stabilization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269480" y="55504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7E5EA"/>
                </a:solidFill>
              </a:rPr>
              <a:t>→ UI / combat action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189720" y="55504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8F2C2"/>
                </a:solidFill>
              </a:rPr>
              <a:t>+ two-hand combos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8" name="Text 32">
            <a:hlinkClick r:id="rId5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9" name="Text 33">
            <a:hlinkClick r:id="rId6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— ERROR MODE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The required twist: concrete correction instead of “gesture not recognized”.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977640" cy="4480560"/>
          </a:xfrm>
          <a:prstGeom prst="roundRect">
            <a:avLst>
              <a:gd name="adj" fmla="val 1149"/>
            </a:avLst>
          </a:prstGeom>
          <a:solidFill>
            <a:srgbClr val="0A1A22"/>
          </a:solidFill>
          <a:ln w="13335">
            <a:solidFill>
              <a:srgbClr val="F3C76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09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F3C768"/>
                </a:solidFill>
              </a:rPr>
              <a:t>WHY THIS MATTERS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22960" y="2084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8FA"/>
                </a:solidFill>
              </a:rPr>
              <a:t>Specific correction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45059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5EA"/>
                </a:solidFill>
              </a:rPr>
              <a:t>The system tells the player what to change — not just that the pose failed.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8FA"/>
                </a:solidFill>
              </a:rPr>
              <a:t>Finger-level feedback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63931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5EA"/>
                </a:solidFill>
              </a:rPr>
              <a:t>Finger states identify which part of the hand needs adjustment.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8FA"/>
                </a:solidFill>
              </a:rPr>
              <a:t>Live quality score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7731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E5EA"/>
                </a:solidFill>
              </a:rPr>
              <a:t>Every attempt receives a measurable quality percentage and status.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68596" y="1339596"/>
            <a:ext cx="2167128" cy="4453128"/>
          </a:xfrm>
          <a:prstGeom prst="roundRect">
            <a:avLst>
              <a:gd name="adj" fmla="val 2110"/>
            </a:avLst>
          </a:prstGeom>
          <a:solidFill>
            <a:srgbClr val="02090D"/>
          </a:solidFill>
          <a:ln w="13335">
            <a:solidFill>
              <a:srgbClr val="F3C768">
                <a:alpha val="90000"/>
              </a:srgbClr>
            </a:solidFill>
            <a:prstDash val="solid"/>
          </a:ln>
        </p:spPr>
      </p:sp>
      <p:pic>
        <p:nvPicPr>
          <p:cNvPr id="18" name="Image 0" descr="/mnt/data/ppt_assets/errv.png">    </p:cNvPr>
          <p:cNvPicPr>
            <a:picLocks noChangeAspect="1"/>
          </p:cNvPicPr>
          <p:nvPr/>
        </p:nvPicPr>
        <p:blipFill>
          <a:blip r:embed="rId1"/>
          <a:srcRect l="0" r="17682" t="3000" b="3000"/>
          <a:stretch/>
        </p:blipFill>
        <p:spPr>
          <a:xfrm>
            <a:off x="4800600" y="1371600"/>
            <a:ext cx="2103120" cy="43891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800600" y="5458968"/>
            <a:ext cx="210312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01184" y="554126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3C768"/>
                </a:solidFill>
              </a:rPr>
              <a:t>V SIGN — correction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7100316" y="1339596"/>
            <a:ext cx="2167128" cy="4453128"/>
          </a:xfrm>
          <a:prstGeom prst="roundRect">
            <a:avLst>
              <a:gd name="adj" fmla="val 2110"/>
            </a:avLst>
          </a:prstGeom>
          <a:solidFill>
            <a:srgbClr val="02090D"/>
          </a:solidFill>
          <a:ln w="13335">
            <a:solidFill>
              <a:srgbClr val="F3C768">
                <a:alpha val="90000"/>
              </a:srgbClr>
            </a:solidFill>
            <a:prstDash val="solid"/>
          </a:ln>
        </p:spPr>
      </p:sp>
      <p:pic>
        <p:nvPicPr>
          <p:cNvPr id="22" name="Image 1" descr="/mnt/data/ppt_assets/errf.png">    </p:cNvPr>
          <p:cNvPicPr>
            <a:picLocks noChangeAspect="1"/>
          </p:cNvPicPr>
          <p:nvPr/>
        </p:nvPicPr>
        <p:blipFill>
          <a:blip r:embed="rId2"/>
          <a:srcRect l="0" r="16276" t="3000" b="3000"/>
          <a:stretch/>
        </p:blipFill>
        <p:spPr>
          <a:xfrm>
            <a:off x="7132320" y="1371600"/>
            <a:ext cx="2103120" cy="43891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132320" y="5458968"/>
            <a:ext cx="210312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32904" y="554126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3C768"/>
                </a:solidFill>
              </a:rPr>
              <a:t>FIST — correction</a:t>
            </a:r>
            <a:endParaRPr lang="en-US" sz="780" dirty="0"/>
          </a:p>
        </p:txBody>
      </p:sp>
      <p:sp>
        <p:nvSpPr>
          <p:cNvPr id="25" name="Shape 21"/>
          <p:cNvSpPr/>
          <p:nvPr/>
        </p:nvSpPr>
        <p:spPr>
          <a:xfrm>
            <a:off x="9432036" y="1339596"/>
            <a:ext cx="2167128" cy="4453128"/>
          </a:xfrm>
          <a:prstGeom prst="roundRect">
            <a:avLst>
              <a:gd name="adj" fmla="val 2110"/>
            </a:avLst>
          </a:prstGeom>
          <a:solidFill>
            <a:srgbClr val="02090D"/>
          </a:solidFill>
          <a:ln w="13335">
            <a:solidFill>
              <a:srgbClr val="78F2C2">
                <a:alpha val="90000"/>
              </a:srgbClr>
            </a:solidFill>
            <a:prstDash val="solid"/>
          </a:ln>
        </p:spPr>
      </p:sp>
      <p:pic>
        <p:nvPicPr>
          <p:cNvPr id="26" name="Image 2" descr="/mnt/data/ppt_assets/openpalm2.png">    </p:cNvPr>
          <p:cNvPicPr>
            <a:picLocks noChangeAspect="1"/>
          </p:cNvPicPr>
          <p:nvPr/>
        </p:nvPicPr>
        <p:blipFill>
          <a:blip r:embed="rId3"/>
          <a:srcRect l="0" r="16172" t="3000" b="3000"/>
          <a:stretch/>
        </p:blipFill>
        <p:spPr>
          <a:xfrm>
            <a:off x="9464040" y="1371600"/>
            <a:ext cx="2103120" cy="43891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464040" y="5458968"/>
            <a:ext cx="210312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64624" y="554126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8F2C2"/>
                </a:solidFill>
              </a:rPr>
              <a:t>OPEN PALM — locked</a:t>
            </a:r>
            <a:endParaRPr lang="en-US" sz="780" dirty="0"/>
          </a:p>
        </p:txBody>
      </p:sp>
      <p:sp>
        <p:nvSpPr>
          <p:cNvPr id="29" name="Shape 24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1" name="Text 26">
            <a:hlinkClick r:id="rId4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2" name="Text 27">
            <a:hlinkClick r:id="rId5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— TRAINING CENTER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Onboarding that teaches the control language before combat.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8516" y="1202436"/>
            <a:ext cx="7516368" cy="4407408"/>
          </a:xfrm>
          <a:prstGeom prst="roundRect">
            <a:avLst>
              <a:gd name="adj" fmla="val 1037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10" name="Image 0" descr="/mnt/data/ppt_assets/crops/training_clean.png">    </p:cNvPr>
          <p:cNvPicPr>
            <a:picLocks noChangeAspect="1"/>
          </p:cNvPicPr>
          <p:nvPr/>
        </p:nvPicPr>
        <p:blipFill>
          <a:blip r:embed="rId1"/>
          <a:srcRect l="0" r="2853" t="0" b="0"/>
          <a:stretch/>
        </p:blipFill>
        <p:spPr>
          <a:xfrm>
            <a:off x="4160520" y="1234440"/>
            <a:ext cx="7452360" cy="4343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5276088"/>
            <a:ext cx="745236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61104" y="5358384"/>
            <a:ext cx="7251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Six modules + Free Practice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48640" y="1444752"/>
            <a:ext cx="3154680" cy="749808"/>
          </a:xfrm>
          <a:prstGeom prst="roundRect">
            <a:avLst>
              <a:gd name="adj" fmla="val 6098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16002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6 MODULES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68096" y="1847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POINT, FIST, OPEN PALM, V SIGN, SWIPE LEFT, SWIPE RIGHT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48640" y="2404872"/>
            <a:ext cx="3154680" cy="749808"/>
          </a:xfrm>
          <a:prstGeom prst="roundRect">
            <a:avLst>
              <a:gd name="adj" fmla="val 6098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2560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STABLE REPETITIONS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768096" y="2807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A gesture must stay valid — one lucky frame is not enough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48640" y="3364992"/>
            <a:ext cx="3154680" cy="749808"/>
          </a:xfrm>
          <a:prstGeom prst="roundRect">
            <a:avLst>
              <a:gd name="adj" fmla="val 6098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3520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FREE PRACTICE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768096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Live gesture diagnostics without triggering combat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48640" y="4325112"/>
            <a:ext cx="3154680" cy="749808"/>
          </a:xfrm>
          <a:prstGeom prst="roundRect">
            <a:avLst>
              <a:gd name="adj" fmla="val 6098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4480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POINT EXERCISE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768096" y="4727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Dwell targets teach gesture navigation and cursor control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594360" y="5806440"/>
            <a:ext cx="10972800" cy="384048"/>
          </a:xfrm>
          <a:prstGeom prst="roundRect">
            <a:avLst>
              <a:gd name="adj" fmla="val 11905"/>
            </a:avLst>
          </a:prstGeom>
          <a:solidFill>
            <a:srgbClr val="071B24"/>
          </a:solidFill>
          <a:ln w="13335">
            <a:solidFill>
              <a:srgbClr val="78F2C2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916168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8FA"/>
                </a:solidFill>
              </a:rPr>
              <a:t>UX value: lowers the learning curve and makes the gesture system easy to demonstrate to judges.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29" name="Text 26">
            <a:hlinkClick r:id="rId2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0" name="Text 27">
            <a:hlinkClick r:id="rId3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— MODES &amp; PLAYABLE HEROES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One shared gesture engine, multiple ways to play.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17036" y="1202436"/>
            <a:ext cx="7927848" cy="4590288"/>
          </a:xfrm>
          <a:prstGeom prst="roundRect">
            <a:avLst>
              <a:gd name="adj" fmla="val 996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10" name="Image 0" descr="/mnt/data/ppt_assets/crops/heroes_clean.png">    </p:cNvPr>
          <p:cNvPicPr>
            <a:picLocks noChangeAspect="1"/>
          </p:cNvPicPr>
          <p:nvPr/>
        </p:nvPicPr>
        <p:blipFill>
          <a:blip r:embed="rId1"/>
          <a:srcRect l="0" r="-15619" t="0" b="0"/>
          <a:stretch/>
        </p:blipFill>
        <p:spPr>
          <a:xfrm>
            <a:off x="3749040" y="1234440"/>
            <a:ext cx="7863840" cy="45262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49040" y="5458968"/>
            <a:ext cx="786384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9624" y="5541264"/>
            <a:ext cx="7662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Three operatives with distinct ability mappings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548640" y="1417320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E8F2"/>
                </a:solidFill>
              </a:rPr>
              <a:t>STORY MODE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148840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7E5EA"/>
                </a:solidFill>
              </a:rPr>
              <a:t>Full narrative route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" y="2221992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23591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E8F2"/>
                </a:solidFill>
              </a:rPr>
              <a:t>BOSS RUSH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148840" y="2359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7E5EA"/>
                </a:solidFill>
              </a:rPr>
              <a:t>Back-to-back boss challenge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" y="3026664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31638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E8F2"/>
                </a:solidFill>
              </a:rPr>
              <a:t>TRAINING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148840" y="3163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7E5EA"/>
                </a:solidFill>
              </a:rPr>
              <a:t>Gesture mastery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8640" y="3831336"/>
            <a:ext cx="2743200" cy="621792"/>
          </a:xfrm>
          <a:prstGeom prst="roundRect">
            <a:avLst>
              <a:gd name="adj" fmla="val 7353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3968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3E8F2"/>
                </a:solidFill>
              </a:rPr>
              <a:t>LEADERBOARD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148840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7E5EA"/>
                </a:solidFill>
              </a:rPr>
              <a:t>Local score archive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" y="489204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071A23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50474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E8F2"/>
                </a:solidFill>
              </a:rPr>
              <a:t>VEX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89888" y="508406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7E5EA"/>
                </a:solidFill>
              </a:rPr>
              <a:t>Assault • direct damage • shields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48640" y="5852160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071A23"/>
          </a:solidFill>
          <a:ln w="13335">
            <a:solidFill>
              <a:srgbClr val="78F2C2">
                <a:alpha val="9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5971032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8F2C2"/>
                </a:solidFill>
              </a:rPr>
              <a:t>NEX • Hacker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993392" y="5852160"/>
            <a:ext cx="1298448" cy="411480"/>
          </a:xfrm>
          <a:prstGeom prst="roundRect">
            <a:avLst>
              <a:gd name="adj" fmla="val 11111"/>
            </a:avLst>
          </a:prstGeom>
          <a:solidFill>
            <a:srgbClr val="071A23"/>
          </a:solidFill>
          <a:ln w="13335">
            <a:solidFill>
              <a:srgbClr val="B79AFF">
                <a:alpha val="9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12264" y="5971032"/>
            <a:ext cx="10607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9AFF"/>
                </a:solidFill>
              </a:rPr>
              <a:t>AERIS • Time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4" name="Text 31">
            <a:hlinkClick r:id="rId2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5" name="Text 32">
            <a:hlinkClick r:id="rId3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— COMPLETE COMBAT LOOP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From gesture input to boss fights, score and saved results.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6636" y="1321308"/>
            <a:ext cx="5504688" cy="3310128"/>
          </a:xfrm>
          <a:prstGeom prst="roundRect">
            <a:avLst>
              <a:gd name="adj" fmla="val 1381"/>
            </a:avLst>
          </a:prstGeom>
          <a:solidFill>
            <a:srgbClr val="02090D"/>
          </a:solidFill>
          <a:ln w="13335">
            <a:solidFill>
              <a:srgbClr val="FF6B7E">
                <a:alpha val="90000"/>
              </a:srgbClr>
            </a:solidFill>
            <a:prstDash val="solid"/>
          </a:ln>
        </p:spPr>
      </p:sp>
      <p:pic>
        <p:nvPicPr>
          <p:cNvPr id="10" name="Image 0" descr="/mnt/data/ppt_assets/crops/combat_clean.png">    </p:cNvPr>
          <p:cNvPicPr>
            <a:picLocks noChangeAspect="1"/>
          </p:cNvPicPr>
          <p:nvPr/>
        </p:nvPicPr>
        <p:blipFill>
          <a:blip r:embed="rId1"/>
          <a:srcRect l="0" r="13864" t="0" b="0"/>
          <a:stretch/>
        </p:blipFill>
        <p:spPr>
          <a:xfrm>
            <a:off x="548640" y="1353312"/>
            <a:ext cx="5440680" cy="3246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297680"/>
            <a:ext cx="544068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4379976"/>
            <a:ext cx="5239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6B7E"/>
                </a:solidFill>
              </a:rPr>
              <a:t>THE WARDEN — contextual threat prompts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167628" y="1321308"/>
            <a:ext cx="5504688" cy="3310128"/>
          </a:xfrm>
          <a:prstGeom prst="roundRect">
            <a:avLst>
              <a:gd name="adj" fmla="val 1381"/>
            </a:avLst>
          </a:prstGeom>
          <a:solidFill>
            <a:srgbClr val="02090D"/>
          </a:solidFill>
          <a:ln w="13335">
            <a:solidFill>
              <a:srgbClr val="B79AFF">
                <a:alpha val="90000"/>
              </a:srgbClr>
            </a:solidFill>
            <a:prstDash val="solid"/>
          </a:ln>
        </p:spPr>
      </p:sp>
      <p:pic>
        <p:nvPicPr>
          <p:cNvPr id="14" name="Image 1" descr="/mnt/data/ppt_assets/crops/echo_clean.png">    </p:cNvPr>
          <p:cNvPicPr>
            <a:picLocks noChangeAspect="1"/>
          </p:cNvPicPr>
          <p:nvPr/>
        </p:nvPicPr>
        <p:blipFill>
          <a:blip r:embed="rId2"/>
          <a:srcRect l="0" r="20496" t="0" b="0"/>
          <a:stretch/>
        </p:blipFill>
        <p:spPr>
          <a:xfrm>
            <a:off x="6199632" y="1353312"/>
            <a:ext cx="5440680" cy="32461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199632" y="4297680"/>
            <a:ext cx="544068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0216" y="4379976"/>
            <a:ext cx="5239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B79AFF"/>
                </a:solidFill>
              </a:rPr>
              <a:t>ECHO — final corrupted AI encounter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685800" y="4983480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4672" y="51846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88720" y="5129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3F8FA"/>
                </a:solidFill>
              </a:rPr>
              <a:t>SELECT HERO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20440" y="4983480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39312" y="51846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02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023360" y="5129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3F8FA"/>
                </a:solidFill>
              </a:rPr>
              <a:t>FIGHT WARDEN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55080" y="4983480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73952" y="51846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858000" y="5129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3F8FA"/>
                </a:solidFill>
              </a:rPr>
              <a:t>FACE ECHO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189720" y="4983480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308592" y="518464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E8F2"/>
                </a:solidFill>
              </a:rPr>
              <a:t>04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9692640" y="5129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3F8FA"/>
                </a:solidFill>
              </a:rPr>
              <a:t>SAVE SCORE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85800" y="58978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Attack • shield • dodge • Super • boss warnings • HP • score • cooldowns • final result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2" name="Text 28">
            <a:hlinkClick r:id="rId3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3" name="Text 29">
            <a:hlinkClick r:id="rId4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 — TECHNICAL IMPLEMENTATION &amp; DELIVERY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Browser-native stack, public repository, README and live deployment.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154680" cy="4526280"/>
          </a:xfrm>
          <a:prstGeom prst="roundRect">
            <a:avLst>
              <a:gd name="adj" fmla="val 1449"/>
            </a:avLst>
          </a:prstGeom>
          <a:solidFill>
            <a:srgbClr val="091D27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819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TECH STACK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822960" y="2066544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5EA"/>
                </a:solidFill>
              </a:rPr>
              <a:t>JavaScript / HTML / CSS / Vite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5237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5EA"/>
                </a:solidFill>
              </a:rPr>
              <a:t>MediaPipe hand tracking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3127248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0540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5EA"/>
                </a:solidFill>
              </a:rPr>
              <a:t>Custom gesture rules + temporal stabilization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84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5EA"/>
                </a:solidFill>
              </a:rPr>
              <a:t>POINT + dwell virtual cursor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4187952"/>
            <a:ext cx="82296" cy="82296"/>
          </a:xfrm>
          <a:prstGeom prst="ellipse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114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5EA"/>
                </a:solidFill>
              </a:rPr>
              <a:t>LocalStorage leaderboard / preferences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2960" y="48006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78F2C2"/>
                </a:solidFill>
              </a:rPr>
              <a:t>DELIVERY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5EA"/>
                </a:solidFill>
              </a:rPr>
              <a:t>Public GitHub • commit history • README • live Vercel deployment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37076" y="1293876"/>
            <a:ext cx="7607808" cy="2304288"/>
          </a:xfrm>
          <a:prstGeom prst="roundRect">
            <a:avLst>
              <a:gd name="adj" fmla="val 1984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4" name="Image 0" descr="/mnt/data/ppt_assets/crops/github_clean.png">    </p:cNvPr>
          <p:cNvPicPr>
            <a:picLocks noChangeAspect="1"/>
          </p:cNvPicPr>
          <p:nvPr/>
        </p:nvPicPr>
        <p:blipFill>
          <a:blip r:embed="rId1"/>
          <a:srcRect l="0" r="-47404" t="0" b="0"/>
          <a:stretch/>
        </p:blipFill>
        <p:spPr>
          <a:xfrm>
            <a:off x="4069080" y="1325880"/>
            <a:ext cx="7543800" cy="22402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069080" y="3264408"/>
            <a:ext cx="754380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69664" y="3346704"/>
            <a:ext cx="7342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Public repository + visible commit history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4037076" y="3762756"/>
            <a:ext cx="3675888" cy="2075688"/>
          </a:xfrm>
          <a:prstGeom prst="roundRect">
            <a:avLst>
              <a:gd name="adj" fmla="val 2203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28" name="Image 1" descr="/mnt/data/ppt_assets/crops/readme_clean.png">    </p:cNvPr>
          <p:cNvPicPr>
            <a:picLocks noChangeAspect="1"/>
          </p:cNvPicPr>
          <p:nvPr/>
        </p:nvPicPr>
        <p:blipFill>
          <a:blip r:embed="rId2"/>
          <a:srcRect l="0" r="-12620" t="0" b="0"/>
          <a:stretch/>
        </p:blipFill>
        <p:spPr>
          <a:xfrm>
            <a:off x="4069080" y="3794760"/>
            <a:ext cx="3611880" cy="20116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069080" y="5504688"/>
            <a:ext cx="361188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169664" y="5586984"/>
            <a:ext cx="3410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README with feature overview</a:t>
            </a:r>
            <a:endParaRPr lang="en-US" sz="780" dirty="0"/>
          </a:p>
        </p:txBody>
      </p:sp>
      <p:sp>
        <p:nvSpPr>
          <p:cNvPr id="31" name="Shape 27"/>
          <p:cNvSpPr/>
          <p:nvPr/>
        </p:nvSpPr>
        <p:spPr>
          <a:xfrm>
            <a:off x="7877556" y="3762756"/>
            <a:ext cx="3767328" cy="2075688"/>
          </a:xfrm>
          <a:prstGeom prst="roundRect">
            <a:avLst>
              <a:gd name="adj" fmla="val 2203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32" name="Image 2" descr="/mnt/data/ppt_assets/crops/vercel_clean.png">    </p:cNvPr>
          <p:cNvPicPr>
            <a:picLocks noChangeAspect="1"/>
          </p:cNvPicPr>
          <p:nvPr/>
        </p:nvPicPr>
        <p:blipFill>
          <a:blip r:embed="rId3"/>
          <a:srcRect l="0" r="21986" t="0" b="0"/>
          <a:stretch/>
        </p:blipFill>
        <p:spPr>
          <a:xfrm>
            <a:off x="7909560" y="3794760"/>
            <a:ext cx="3703320" cy="201168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7909560" y="5504688"/>
            <a:ext cx="370332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010144" y="5586984"/>
            <a:ext cx="3502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Production deployment: Ready</a:t>
            </a:r>
            <a:endParaRPr lang="en-US" sz="780" dirty="0"/>
          </a:p>
        </p:txBody>
      </p:sp>
      <p:sp>
        <p:nvSpPr>
          <p:cNvPr id="35" name="Shape 30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37" name="Text 32">
            <a:hlinkClick r:id="rId4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38" name="Text 33">
            <a:hlinkClick r:id="rId5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 — CRITERIA COVERAGE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Everything the jury scores is visible in the product.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47218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E8F2"/>
                </a:solidFill>
              </a:rPr>
              <a:t>30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1453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FUNCTIONALITY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88920" y="14264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6+ gestures, real-time feedback, complete playable browser flow.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F3C76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231136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C768"/>
                </a:solidFill>
              </a:rPr>
              <a:t>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22128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ERROR MODE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88920" y="21854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Specific correction, quality score, finger-level guidance.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48640" y="2843784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78F2C2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990088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8F2C2"/>
                </a:solidFill>
              </a:rPr>
              <a:t>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2971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TECHNICAL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88920" y="2944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Structured codebase, own gesture rules, public GitHub + README.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48640" y="3602736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749040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E8F2"/>
                </a:solidFill>
              </a:rPr>
              <a:t>15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3730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UX &amp; DESIGN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88920" y="37033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Training, gesture cursor, contextual combat hints, cohesive cyberpunk UI.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48640" y="4361688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B79A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507992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9AFF"/>
                </a:solidFill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4897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ORIGINALITY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88920" y="446227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Webcam-controlled cyberpunk RPG with story, heroes and bosses.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7635240" cy="603504"/>
          </a:xfrm>
          <a:prstGeom prst="roundRect">
            <a:avLst>
              <a:gd name="adj" fmla="val 7576"/>
            </a:avLst>
          </a:prstGeom>
          <a:solidFill>
            <a:srgbClr val="081C25"/>
          </a:solidFill>
          <a:ln w="13335">
            <a:solidFill>
              <a:srgbClr val="FF6B7E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5266944"/>
            <a:ext cx="384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7E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61872" y="52486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3F8FA"/>
                </a:solidFill>
              </a:rPr>
              <a:t>BONUSES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88920" y="522122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7E5EA"/>
                </a:solidFill>
              </a:rPr>
              <a:t>Own gesture logic, leaderboard, sound/visual effects, two-hand combos.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453628" y="1293876"/>
            <a:ext cx="3218688" cy="3035808"/>
          </a:xfrm>
          <a:prstGeom prst="roundRect">
            <a:avLst>
              <a:gd name="adj" fmla="val 1506"/>
            </a:avLst>
          </a:prstGeom>
          <a:solidFill>
            <a:srgbClr val="02090D"/>
          </a:solidFill>
          <a:ln w="13335">
            <a:solidFill>
              <a:srgbClr val="28C8D8">
                <a:alpha val="90000"/>
              </a:srgbClr>
            </a:solidFill>
            <a:prstDash val="solid"/>
          </a:ln>
        </p:spPr>
      </p:sp>
      <p:pic>
        <p:nvPicPr>
          <p:cNvPr id="34" name="Image 0" descr="/mnt/data/ppt_assets/crops/leaderboard_clean.png">    </p:cNvPr>
          <p:cNvPicPr>
            <a:picLocks noChangeAspect="1"/>
          </p:cNvPicPr>
          <p:nvPr/>
        </p:nvPicPr>
        <p:blipFill>
          <a:blip r:embed="rId1"/>
          <a:srcRect l="2000" r="52616" t="5000" b="23000"/>
          <a:stretch/>
        </p:blipFill>
        <p:spPr>
          <a:xfrm>
            <a:off x="8485632" y="1325880"/>
            <a:ext cx="3154680" cy="297180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8485632" y="3995928"/>
            <a:ext cx="3154680" cy="301752"/>
          </a:xfrm>
          <a:prstGeom prst="rect">
            <a:avLst/>
          </a:prstGeom>
          <a:solidFill>
            <a:srgbClr val="031016">
              <a:alpha val="88000"/>
            </a:srgbClr>
          </a:solidFill>
          <a:ln w="12700">
            <a:solidFill>
              <a:srgbClr val="031016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86216" y="4078224"/>
            <a:ext cx="2953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3E8F2"/>
                </a:solidFill>
              </a:rPr>
              <a:t>Bonus: leaderboard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8485632" y="4526280"/>
            <a:ext cx="3154680" cy="1325880"/>
          </a:xfrm>
          <a:prstGeom prst="roundRect">
            <a:avLst>
              <a:gd name="adj" fmla="val 3448"/>
            </a:avLst>
          </a:prstGeom>
          <a:solidFill>
            <a:srgbClr val="071A23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59952" y="47914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63E8F2"/>
                </a:solidFill>
              </a:rPr>
              <a:t>GAME / MOTION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8759952" y="514807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7E5EA"/>
                </a:solidFill>
              </a:rPr>
              <a:t>The webcam is not just a sensor — it is the game controller for navigation, training and combat.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42" name="Text 39">
            <a:hlinkClick r:id="rId2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43" name="Text 40">
            <a:hlinkClick r:id="rId3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1B"/>
          </a:solidFill>
          <a:ln w="12700">
            <a:solidFill>
              <a:srgbClr val="0613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84048"/>
            <a:ext cx="11356848" cy="0"/>
          </a:xfrm>
          <a:prstGeom prst="line">
            <a:avLst/>
          </a:prstGeom>
          <a:noFill/>
          <a:ln w="12700">
            <a:solidFill>
              <a:srgbClr val="28C8D8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84048"/>
            <a:ext cx="777240" cy="36576"/>
          </a:xfrm>
          <a:prstGeom prst="rect">
            <a:avLst/>
          </a:prstGeom>
          <a:solidFill>
            <a:srgbClr val="63E8F2"/>
          </a:solidFill>
          <a:ln w="12700">
            <a:solidFill>
              <a:srgbClr val="6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0" y="137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ARCANE PROTOCOL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AB4"/>
                </a:solidFill>
              </a:rPr>
              <a:t>TEAM APEX // MOTION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760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9966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AB4"/>
                </a:solidFill>
              </a:rPr>
              <a:t>A 90-second path that shows the strongest parts of the project.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3533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453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14721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Open live link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0360" y="1490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Camera + landmarks online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40080" y="22677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597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3865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POINT + dwell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Navigate without mouse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40080" y="31821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74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3300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Training Center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80360" y="3319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Show quality + correction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0080" y="40965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885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42153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Choose operative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80360" y="42336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VEX / NEX / AERIS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035040" y="13533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5453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29400" y="14721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Fight Warden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75320" y="1490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Attack, shield, dodge, Super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035040" y="22677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4597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23865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Reach ECHO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75320" y="24048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Story twist / Boss Rush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035040" y="3182112"/>
            <a:ext cx="4800600" cy="694944"/>
          </a:xfrm>
          <a:prstGeom prst="roundRect">
            <a:avLst>
              <a:gd name="adj" fmla="val 6579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37413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E8F2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3009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3F8FA"/>
                </a:solidFill>
              </a:rPr>
              <a:t>Open leaderboard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75320" y="33192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FAAB4"/>
                </a:solidFill>
              </a:rPr>
              <a:t>Show saved result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035040" y="4681728"/>
            <a:ext cx="5349240" cy="1024128"/>
          </a:xfrm>
          <a:prstGeom prst="roundRect">
            <a:avLst>
              <a:gd name="adj" fmla="val 4464"/>
            </a:avLst>
          </a:prstGeom>
          <a:solidFill>
            <a:srgbClr val="071A23"/>
          </a:solidFill>
          <a:ln w="13335">
            <a:solidFill>
              <a:srgbClr val="63E8F2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93776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F8FA"/>
                </a:solidFill>
              </a:rPr>
              <a:t>THE WEBCAM IS THE CONTROLLER.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55080" y="528523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AB4"/>
                </a:solidFill>
              </a:rPr>
              <a:t>Team Apex • Syrymbet • Mansur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5669280"/>
            <a:ext cx="4892040" cy="502920"/>
          </a:xfrm>
          <a:prstGeom prst="roundRect">
            <a:avLst>
              <a:gd name="adj" fmla="val 9091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5760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FAAB4"/>
                </a:solidFill>
              </a:rPr>
              <a:t>LIVE</a:t>
            </a:r>
            <a:endParaRPr lang="en-US" sz="770" dirty="0"/>
          </a:p>
        </p:txBody>
      </p:sp>
      <p:sp>
        <p:nvSpPr>
          <p:cNvPr id="42" name="Text 40">
            <a:hlinkClick r:id="rId1" tooltip=""/>
          </p:cNvPr>
          <p:cNvSpPr/>
          <p:nvPr/>
        </p:nvSpPr>
        <p:spPr>
          <a:xfrm>
            <a:off x="1463040" y="57515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u="sng" dirty="0">
                <a:solidFill>
                  <a:srgbClr val="63E8F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5760720" y="5669280"/>
            <a:ext cx="5623560" cy="502920"/>
          </a:xfrm>
          <a:prstGeom prst="roundRect">
            <a:avLst>
              <a:gd name="adj" fmla="val 9091"/>
            </a:avLst>
          </a:prstGeom>
          <a:solidFill>
            <a:srgbClr val="081C25"/>
          </a:solidFill>
          <a:ln w="13335">
            <a:solidFill>
              <a:srgbClr val="2A6A78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0448" y="5760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8FAAB4"/>
                </a:solidFill>
              </a:rPr>
              <a:t>GITHUB</a:t>
            </a:r>
            <a:endParaRPr lang="en-US" sz="770" dirty="0"/>
          </a:p>
        </p:txBody>
      </p:sp>
      <p:sp>
        <p:nvSpPr>
          <p:cNvPr id="45" name="Text 43">
            <a:hlinkClick r:id="rId2" tooltip=""/>
          </p:cNvPr>
          <p:cNvSpPr/>
          <p:nvPr/>
        </p:nvSpPr>
        <p:spPr>
          <a:xfrm>
            <a:off x="6583680" y="575157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b="1" u="sng" dirty="0">
                <a:solidFill>
                  <a:srgbClr val="63E8F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438912" y="6473952"/>
            <a:ext cx="11292840" cy="0"/>
          </a:xfrm>
          <a:prstGeom prst="line">
            <a:avLst/>
          </a:prstGeom>
          <a:noFill/>
          <a:ln w="10160">
            <a:solidFill>
              <a:srgbClr val="2A6A78">
                <a:alpha val="7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6547104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AB4"/>
                </a:solidFill>
              </a:rPr>
              <a:t>Team Apex • Syrymbet • Mansur</a:t>
            </a:r>
            <a:endParaRPr lang="en-US" sz="750" dirty="0"/>
          </a:p>
        </p:txBody>
      </p:sp>
      <p:sp>
        <p:nvSpPr>
          <p:cNvPr id="48" name="Text 46">
            <a:hlinkClick r:id="rId3" tooltip=""/>
          </p:cNvPr>
          <p:cNvSpPr/>
          <p:nvPr/>
        </p:nvSpPr>
        <p:spPr>
          <a:xfrm>
            <a:off x="4389120" y="654710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arcane-protocol.vercel.app</a:t>
            </a:r>
            <a:endParaRPr lang="en-US" sz="750" dirty="0"/>
          </a:p>
        </p:txBody>
      </p:sp>
      <p:sp>
        <p:nvSpPr>
          <p:cNvPr id="49" name="Text 47">
            <a:hlinkClick r:id="rId4" tooltip=""/>
          </p:cNvPr>
          <p:cNvSpPr/>
          <p:nvPr/>
        </p:nvSpPr>
        <p:spPr>
          <a:xfrm>
            <a:off x="7772400" y="6547104"/>
            <a:ext cx="3886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63E8F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github.com/ka19550218-debug/arcane-protocol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Apex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PROTOCOL</dc:title>
  <dc:subject>ARCANE PROTOCOL — Admit Hackathon Motion 2026</dc:subject>
  <dc:creator>Team Apex</dc:creator>
  <cp:lastModifiedBy>Team Apex</cp:lastModifiedBy>
  <cp:revision>1</cp:revision>
  <dcterms:created xsi:type="dcterms:W3CDTF">2026-09-30T18:18:53Z</dcterms:created>
  <dcterms:modified xsi:type="dcterms:W3CDTF">2026-09-30T18:18:53Z</dcterms:modified>
</cp:coreProperties>
</file>